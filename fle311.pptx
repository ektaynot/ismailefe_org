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3" r:id="rId4"/>
    <p:sldId id="284" r:id="rId5"/>
    <p:sldId id="285" r:id="rId6"/>
    <p:sldId id="280" r:id="rId7"/>
    <p:sldId id="281" r:id="rId8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7FBC"/>
    <a:srgbClr val="313647"/>
    <a:srgbClr val="B87C4C"/>
    <a:srgbClr val="E43636"/>
    <a:srgbClr val="FEF3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8"/>
  </p:normalViewPr>
  <p:slideViewPr>
    <p:cSldViewPr snapToGrid="0" showGuides="1">
      <p:cViewPr varScale="1">
        <p:scale>
          <a:sx n="114" d="100"/>
          <a:sy n="114" d="100"/>
        </p:scale>
        <p:origin x="920" y="176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5B49F-19CD-2D1A-E03A-CF71F72FB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1B0E5-6686-EB42-2EE9-40B30187F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C8B30-467C-26F5-8E8C-E9862CD76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39BE3-F9CE-F64F-A793-8C0A64215F9B}" type="datetimeFigureOut">
              <a:t>5.11.2025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71A7E-DC60-9972-B7C8-DE6CC91E3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9E9D3-D542-7DF2-32B2-097CF37CD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0CC9-DA2F-9E4C-9591-B1D25BCDB940}" type="slidenum"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528568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7033A-C41C-6BB3-11F0-45F36F206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9F05D-A23C-5CC1-1974-8B6E84258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B6470-A067-0EFB-372E-B33C041D8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39BE3-F9CE-F64F-A793-8C0A64215F9B}" type="datetimeFigureOut">
              <a:t>5.11.2025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4E86C-3AC8-D14D-541C-646E5CB71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2F859-62C2-90D1-2593-6C0E8EE1C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0CC9-DA2F-9E4C-9591-B1D25BCDB940}" type="slidenum"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412484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A9BF8-A7B7-3028-F61D-CA4B9C452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F08B4-E916-0C36-5094-68E573C91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04B62-A898-D14F-A1D9-4F3C6A2EB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39BE3-F9CE-F64F-A793-8C0A64215F9B}" type="datetimeFigureOut">
              <a:t>5.11.2025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4E87E-6FBF-7E64-1187-52BBF779E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95E0D-4F4B-66D3-8D2D-9A49A2E5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0CC9-DA2F-9E4C-9591-B1D25BCDB940}" type="slidenum"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742832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9CD9-89EC-CD03-FE7D-C04E7E9FA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B890E-0B08-A0E5-144B-3CA6C1709E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198B68-5627-F563-6D8A-1C9824C47A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891F6-78AE-8BB9-6BEC-DC7C985EC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39BE3-F9CE-F64F-A793-8C0A64215F9B}" type="datetimeFigureOut">
              <a:t>5.11.2025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9F524-1085-1C1A-2F24-17E1C816B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84D13-CB6F-EC16-6D03-F8A98110C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0CC9-DA2F-9E4C-9591-B1D25BCDB940}" type="slidenum"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981741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E462E-2385-795C-E88F-2038B63CC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EB2610-8E64-98B7-E21C-E3333BB37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B1595-41AC-6BDA-1A90-D46D16231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459C60-8701-C556-E542-C2262544A7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3C1BF8-CEEB-C1AC-83B0-3D1914FB56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BFE148-1CDE-A1FC-366C-33E1E2ABF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39BE3-F9CE-F64F-A793-8C0A64215F9B}" type="datetimeFigureOut">
              <a:t>5.11.2025</a:t>
            </a:fld>
            <a:endParaRPr lang="en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8AD29-D444-6FDF-A335-01F7080D8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116863-AFD1-657D-CB4A-759978AA6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0CC9-DA2F-9E4C-9591-B1D25BCDB940}" type="slidenum"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365717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480C3-82B0-5C56-2830-037A974AB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CABB4F-21E6-96A0-A985-A5F47DDAA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39BE3-F9CE-F64F-A793-8C0A64215F9B}" type="datetimeFigureOut">
              <a:t>5.11.2025</a:t>
            </a:fld>
            <a:endParaRPr lang="en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89ED0A-CE60-DB13-65CE-CC2996345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D78CC8-DC37-F350-514F-E0484C483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0CC9-DA2F-9E4C-9591-B1D25BCDB940}" type="slidenum"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213001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9B173-D100-EF4A-5034-448686E21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39BE3-F9CE-F64F-A793-8C0A64215F9B}" type="datetimeFigureOut">
              <a:t>5.11.2025</a:t>
            </a:fld>
            <a:endParaRPr lang="en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D01517-1252-3F65-1CED-1CA1275E6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1CE8D-5A58-2B89-A623-A46A5DC87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0CC9-DA2F-9E4C-9591-B1D25BCDB940}" type="slidenum"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58394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FAD42-BC27-FC74-4BD6-615FCEB03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69091-59BC-22E8-EA81-998B9769F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A27FF-131A-D624-21DA-9684C19CFF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29C8D-14FC-320D-44E3-EEF9F8E29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39BE3-F9CE-F64F-A793-8C0A64215F9B}" type="datetimeFigureOut">
              <a:t>5.11.2025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6A4871-BBFC-D0D4-035C-549E439A0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6D5B5F-7A63-9607-F2CF-F11693089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0CC9-DA2F-9E4C-9591-B1D25BCDB940}" type="slidenum"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68128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98D9F-E35B-643D-E761-96BBC62BD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BB19FB-B8AB-F87C-BC89-DC6C71D3B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1BD0E-303F-7E80-673D-0BF9C1FC4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6B78A-2D19-F6F6-BD82-FBD1E7C15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39BE3-F9CE-F64F-A793-8C0A64215F9B}" type="datetimeFigureOut">
              <a:t>5.11.2025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CAE4F-BD53-5226-2858-B6D66F82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66335-6B65-F1EB-0BCA-831B7EE75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0CC9-DA2F-9E4C-9591-B1D25BCDB940}" type="slidenum"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929619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0CDB3-8981-0D69-FE75-DBE676C83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FF7219-7ABC-1275-30DD-58707F13F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57112-8C47-7EFB-A278-0372D9F5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39BE3-F9CE-F64F-A793-8C0A64215F9B}" type="datetimeFigureOut">
              <a:t>5.11.2025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58B16-55E1-AF3B-3FDC-4191A7BBC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9C1AC-9CC6-89DF-9508-1F97EFA4E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0CC9-DA2F-9E4C-9591-B1D25BCDB940}" type="slidenum"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289377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F4938C-D0A9-2E67-A01A-716033BD6B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815775-31B2-C3A7-EBC9-0492B2A77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5F89E-75C3-86E7-E71C-6465376A5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39BE3-F9CE-F64F-A793-8C0A64215F9B}" type="datetimeFigureOut">
              <a:t>5.11.2025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AB63E-5E12-5995-F268-BF3C37435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48CF0-E5F1-ECF0-9C32-554B2BBCA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40CC9-DA2F-9E4C-9591-B1D25BCDB940}" type="slidenum"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674214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5CAB49-CDA0-64FE-32DC-F531C52BC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5ACE3-1A16-C837-BAAC-AFBE2D267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ED921-8416-7CF1-857B-7C13E29B91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939BE3-F9CE-F64F-A793-8C0A64215F9B}" type="datetimeFigureOut">
              <a:t>5.11.2025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C53ED-F345-5F03-BB08-84579DD62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3ECC6-CD19-CC35-8F7A-F1C71268D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F40CC9-DA2F-9E4C-9591-B1D25BCDB940}" type="slidenum"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86975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52/advan.00181.2024" TargetMode="External"/><Relationship Id="rId2" Type="http://schemas.openxmlformats.org/officeDocument/2006/relationships/hyperlink" Target="https://doi.org/10.1186/s41239-024-00444-7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i.org/10.1109/AI2E64943.2025.10983650" TargetMode="External"/><Relationship Id="rId4" Type="http://schemas.openxmlformats.org/officeDocument/2006/relationships/hyperlink" Target="https://doi.org/10.1177/0735633124131236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3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3EA19-52F8-21A7-18F8-2F0F33F2E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371134"/>
            <a:ext cx="9144000" cy="976971"/>
          </a:xfrm>
        </p:spPr>
        <p:txBody>
          <a:bodyPr anchor="b">
            <a:normAutofit/>
          </a:bodyPr>
          <a:lstStyle/>
          <a:p>
            <a:r>
              <a:rPr lang="en-US" sz="2400" i="1">
                <a:solidFill>
                  <a:srgbClr val="313647"/>
                </a:solidFill>
              </a:rPr>
              <a:t>FLE311 – Research Project Presentation</a:t>
            </a:r>
            <a:endParaRPr lang="en-TR" sz="2400" i="1">
              <a:solidFill>
                <a:srgbClr val="313647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6E89770-CDC9-2DA5-BE7A-5A2933955502}"/>
              </a:ext>
            </a:extLst>
          </p:cNvPr>
          <p:cNvSpPr txBox="1">
            <a:spLocks/>
          </p:cNvSpPr>
          <p:nvPr/>
        </p:nvSpPr>
        <p:spPr>
          <a:xfrm>
            <a:off x="256477" y="4125332"/>
            <a:ext cx="1167904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i="1">
                <a:solidFill>
                  <a:srgbClr val="313647"/>
                </a:solidFill>
              </a:rPr>
              <a:t>Alperen Taha Bostancı - Emir Ekşi - İsmail Efe Top - Yiğit Duymaz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767177A-5309-4C86-1B4D-0280567E92FB}"/>
              </a:ext>
            </a:extLst>
          </p:cNvPr>
          <p:cNvSpPr txBox="1">
            <a:spLocks/>
          </p:cNvSpPr>
          <p:nvPr/>
        </p:nvSpPr>
        <p:spPr>
          <a:xfrm>
            <a:off x="808462" y="2940514"/>
            <a:ext cx="10575073" cy="9769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solidFill>
                  <a:srgbClr val="313647"/>
                </a:solidFill>
              </a:rPr>
              <a:t>AI Across Campus: </a:t>
            </a:r>
          </a:p>
          <a:p>
            <a:r>
              <a:rPr lang="en-US" sz="4000" b="1">
                <a:solidFill>
                  <a:srgbClr val="313647"/>
                </a:solidFill>
              </a:rPr>
              <a:t>Exploring Usage Differences in Academic Assignments Between METU Foreign Language Education and Engineering Students</a:t>
            </a:r>
            <a:endParaRPr lang="en-TR" sz="4000" b="1">
              <a:solidFill>
                <a:srgbClr val="31364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537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3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8A6E45-F879-CF2E-96B8-7F28B6958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EC79B-027C-0147-1DFD-FEB5893E4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152" y="0"/>
            <a:ext cx="9144000" cy="2387600"/>
          </a:xfrm>
        </p:spPr>
        <p:txBody>
          <a:bodyPr anchor="ctr">
            <a:normAutofit/>
          </a:bodyPr>
          <a:lstStyle/>
          <a:p>
            <a:pPr algn="l"/>
            <a:r>
              <a:rPr lang="en-US" sz="4000" b="1">
                <a:solidFill>
                  <a:srgbClr val="647FBC"/>
                </a:solidFill>
              </a:rPr>
              <a:t>Aim of our project</a:t>
            </a:r>
            <a:endParaRPr lang="en-TR" sz="4000" b="1">
              <a:solidFill>
                <a:srgbClr val="647FBC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251FCFC-EBD1-ECDE-6962-A344213D2118}"/>
              </a:ext>
            </a:extLst>
          </p:cNvPr>
          <p:cNvSpPr txBox="1">
            <a:spLocks/>
          </p:cNvSpPr>
          <p:nvPr/>
        </p:nvSpPr>
        <p:spPr>
          <a:xfrm>
            <a:off x="773153" y="279985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>
                <a:solidFill>
                  <a:srgbClr val="647FBC"/>
                </a:solidFill>
              </a:rPr>
              <a:t>Significance of the topic</a:t>
            </a:r>
            <a:endParaRPr lang="en-TR" sz="4000" b="1">
              <a:solidFill>
                <a:srgbClr val="647FBC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716B7C-A19B-29CC-2F2C-0D2E7424CE7E}"/>
              </a:ext>
            </a:extLst>
          </p:cNvPr>
          <p:cNvSpPr txBox="1"/>
          <p:nvPr/>
        </p:nvSpPr>
        <p:spPr>
          <a:xfrm>
            <a:off x="773152" y="1784196"/>
            <a:ext cx="99877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R" sz="2000">
                <a:solidFill>
                  <a:srgbClr val="313647"/>
                </a:solidFill>
              </a:rPr>
              <a:t>We aim to </a:t>
            </a:r>
            <a:r>
              <a:rPr lang="en-US" sz="2000">
                <a:solidFill>
                  <a:srgbClr val="313647"/>
                </a:solidFill>
              </a:rPr>
              <a:t>to explore, compare, and discuss how undergraduate students in METU Foreign Language Education (FLE) department and METU Faculty of Engineering (ENG) students use AI for their academic life and assignments.</a:t>
            </a:r>
            <a:endParaRPr lang="en-US" sz="2000">
              <a:solidFill>
                <a:srgbClr val="313647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EBE029-0B01-53B5-AFE4-126FB01C888E}"/>
              </a:ext>
            </a:extLst>
          </p:cNvPr>
          <p:cNvSpPr txBox="1"/>
          <p:nvPr/>
        </p:nvSpPr>
        <p:spPr>
          <a:xfrm>
            <a:off x="773152" y="4556796"/>
            <a:ext cx="104115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313647"/>
                </a:solidFill>
              </a:rPr>
              <a:t>AI is a new phenomenon and it being a fresh occurrence, makes the research related to it all the more important. That is why this study is interested in a difference in spheres as small as a departmental difference, instead of something on a bigger scale like comparing countries.</a:t>
            </a:r>
            <a:endParaRPr lang="en-US" sz="2000">
              <a:solidFill>
                <a:srgbClr val="313647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96629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3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29E2AD-CB07-E5AB-EEE1-E374F54B3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A0A6-B59F-1D33-3623-A6DE48F18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152" y="0"/>
            <a:ext cx="9144000" cy="2387600"/>
          </a:xfrm>
        </p:spPr>
        <p:txBody>
          <a:bodyPr anchor="ctr">
            <a:normAutofit/>
          </a:bodyPr>
          <a:lstStyle/>
          <a:p>
            <a:pPr algn="l"/>
            <a:r>
              <a:rPr lang="en-US" sz="4000" b="1">
                <a:solidFill>
                  <a:srgbClr val="647FBC"/>
                </a:solidFill>
              </a:rPr>
              <a:t>Background research</a:t>
            </a:r>
            <a:endParaRPr lang="en-TR" sz="4000" b="1">
              <a:solidFill>
                <a:srgbClr val="647FB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43C222-8B47-C802-99DB-79499E6214FE}"/>
              </a:ext>
            </a:extLst>
          </p:cNvPr>
          <p:cNvSpPr txBox="1"/>
          <p:nvPr/>
        </p:nvSpPr>
        <p:spPr>
          <a:xfrm>
            <a:off x="773152" y="1925935"/>
            <a:ext cx="10411522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313647"/>
                </a:solidFill>
              </a:rPr>
              <a:t>How: Students use AI for planning, idea generation, and drafting (Chen et al., 2025; Duong &amp; Chen, 2025). 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313647"/>
                </a:solidFill>
              </a:rPr>
              <a:t>Why: To save time, manage workload, and improve assignment quality (Donnell et al., 2024; Abbas et al., 2024). 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313647"/>
                </a:solidFill>
              </a:rPr>
              <a:t>Challenge: Many use AI text "as-is" without paraphrasing or attribution (Chen et al., 2025). 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313647"/>
                </a:solidFill>
              </a:rPr>
              <a:t>Perception: Students are generally open to AI but want institutional guidance and licenses (Chen et al., 2025).</a:t>
            </a:r>
            <a:endParaRPr lang="en-US" sz="2400">
              <a:solidFill>
                <a:srgbClr val="313647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26286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3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FA24C-696C-592C-61D0-B793187E4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84B7A-EF7B-0AA2-758F-FAD790FB4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152" y="0"/>
            <a:ext cx="9144000" cy="2387600"/>
          </a:xfrm>
        </p:spPr>
        <p:txBody>
          <a:bodyPr anchor="ctr">
            <a:normAutofit/>
          </a:bodyPr>
          <a:lstStyle/>
          <a:p>
            <a:pPr algn="l"/>
            <a:r>
              <a:rPr lang="en-US" sz="4000" b="1">
                <a:solidFill>
                  <a:srgbClr val="647FBC"/>
                </a:solidFill>
              </a:rPr>
              <a:t>Research Questions</a:t>
            </a:r>
            <a:endParaRPr lang="en-TR" sz="4000" b="1">
              <a:solidFill>
                <a:srgbClr val="647FB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1B93CD-C614-78E0-9D66-456F2D097152}"/>
              </a:ext>
            </a:extLst>
          </p:cNvPr>
          <p:cNvSpPr txBox="1"/>
          <p:nvPr/>
        </p:nvSpPr>
        <p:spPr>
          <a:xfrm>
            <a:off x="773152" y="2387600"/>
            <a:ext cx="104115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solidFill>
                  <a:srgbClr val="313647"/>
                </a:solidFill>
              </a:rPr>
              <a:t>How does the AI usage of METU FLE students differ compared to that of METU ENG students in academic assignments?</a:t>
            </a:r>
            <a:endParaRPr lang="en-US" sz="4000">
              <a:solidFill>
                <a:srgbClr val="313647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498E3A-2936-D665-89CF-0E4A0D84BC4E}"/>
              </a:ext>
            </a:extLst>
          </p:cNvPr>
          <p:cNvSpPr txBox="1"/>
          <p:nvPr/>
        </p:nvSpPr>
        <p:spPr>
          <a:xfrm>
            <a:off x="890239" y="5561980"/>
            <a:ext cx="10411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rgbClr val="313647"/>
                </a:solidFill>
              </a:rPr>
              <a:t>This study will employ </a:t>
            </a:r>
            <a:r>
              <a:rPr lang="en-US" i="1">
                <a:solidFill>
                  <a:srgbClr val="313647"/>
                </a:solidFill>
              </a:rPr>
              <a:t>twelve</a:t>
            </a:r>
            <a:r>
              <a:rPr lang="en-US">
                <a:solidFill>
                  <a:srgbClr val="313647"/>
                </a:solidFill>
              </a:rPr>
              <a:t> METU students. </a:t>
            </a:r>
            <a:r>
              <a:rPr lang="en-US" i="1">
                <a:solidFill>
                  <a:srgbClr val="313647"/>
                </a:solidFill>
              </a:rPr>
              <a:t>Six</a:t>
            </a:r>
            <a:r>
              <a:rPr lang="en-US">
                <a:solidFill>
                  <a:srgbClr val="313647"/>
                </a:solidFill>
              </a:rPr>
              <a:t> of them will be FLE students while the other </a:t>
            </a:r>
            <a:r>
              <a:rPr lang="en-US" i="1">
                <a:solidFill>
                  <a:srgbClr val="313647"/>
                </a:solidFill>
              </a:rPr>
              <a:t>six</a:t>
            </a:r>
            <a:r>
              <a:rPr lang="en-US">
                <a:solidFill>
                  <a:srgbClr val="313647"/>
                </a:solidFill>
              </a:rPr>
              <a:t> will be engineering students, both from various years.</a:t>
            </a:r>
            <a:endParaRPr lang="en-US" sz="3600" i="1">
              <a:solidFill>
                <a:srgbClr val="313647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87038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3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47B671-B93B-CFD3-5EFF-163C82AFB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80504-4B5E-158C-1BD1-F662FFE7B8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152" y="0"/>
            <a:ext cx="9144000" cy="2387600"/>
          </a:xfrm>
        </p:spPr>
        <p:txBody>
          <a:bodyPr anchor="ctr">
            <a:normAutofit/>
          </a:bodyPr>
          <a:lstStyle/>
          <a:p>
            <a:pPr algn="l"/>
            <a:r>
              <a:rPr lang="en-US" sz="4000" b="1">
                <a:solidFill>
                  <a:srgbClr val="647FBC"/>
                </a:solidFill>
              </a:rPr>
              <a:t>What intimidates us?</a:t>
            </a:r>
            <a:endParaRPr lang="en-TR" sz="4000" b="1">
              <a:solidFill>
                <a:srgbClr val="647FB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70599A-C94C-A5AD-8D65-00641D0CF357}"/>
              </a:ext>
            </a:extLst>
          </p:cNvPr>
          <p:cNvSpPr txBox="1"/>
          <p:nvPr/>
        </p:nvSpPr>
        <p:spPr>
          <a:xfrm>
            <a:off x="773152" y="1925935"/>
            <a:ext cx="104115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Participant Recruitment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Interviewing Skills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Getting Honest Answers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Data Analysis</a:t>
            </a:r>
            <a:endParaRPr lang="en-US" sz="2400">
              <a:solidFill>
                <a:srgbClr val="313647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FCA13A-0F76-9AB6-A2E3-1223358CA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263" y="3887072"/>
            <a:ext cx="3605562" cy="273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189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3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C8A9EE-56A8-3E6C-4505-97B3606C4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BBD99-7A02-5B2A-0A34-F98975014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68351"/>
            <a:ext cx="12192000" cy="2387600"/>
          </a:xfrm>
        </p:spPr>
        <p:txBody>
          <a:bodyPr anchor="t">
            <a:noAutofit/>
          </a:bodyPr>
          <a:lstStyle/>
          <a:p>
            <a:r>
              <a:rPr lang="en-US" sz="4800">
                <a:solidFill>
                  <a:srgbClr val="647FBC"/>
                </a:solidFill>
              </a:rPr>
              <a:t>Thanks for listening!</a:t>
            </a:r>
            <a:endParaRPr lang="en-TR" sz="4800" b="1">
              <a:solidFill>
                <a:srgbClr val="647FBC"/>
              </a:solidFill>
            </a:endParaRPr>
          </a:p>
        </p:txBody>
      </p:sp>
      <p:pic>
        <p:nvPicPr>
          <p:cNvPr id="4" name="Picture 3" descr="A person in a car&#10;&#10;AI-generated content may be incorrect.">
            <a:extLst>
              <a:ext uri="{FF2B5EF4-FFF2-40B4-BE49-F238E27FC236}">
                <a16:creationId xmlns:a16="http://schemas.microsoft.com/office/drawing/2014/main" id="{3844E3C0-9CCF-5E22-5F5F-979FB319F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725" y="1662151"/>
            <a:ext cx="7194550" cy="492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25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3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972A2D-7CC4-E5CE-3E67-76B6F9B35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B92109-D7EA-66CC-8ADB-86F73E889574}"/>
              </a:ext>
            </a:extLst>
          </p:cNvPr>
          <p:cNvSpPr txBox="1"/>
          <p:nvPr/>
        </p:nvSpPr>
        <p:spPr>
          <a:xfrm>
            <a:off x="1218457" y="1781286"/>
            <a:ext cx="994425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Abbas, M., Jam, F. A., &amp; Khan, T. I. (2024). Is it harmful or helpful? Examining the causes and consequences of generative AI usage among university students. </a:t>
            </a:r>
            <a:r>
              <a:rPr lang="en-US" i="1"/>
              <a:t>International Journal of Educational Technology in Higher Education</a:t>
            </a:r>
            <a:r>
              <a:rPr lang="en-US"/>
              <a:t>, </a:t>
            </a:r>
            <a:r>
              <a:rPr lang="en-US" i="1"/>
              <a:t>21</a:t>
            </a:r>
            <a:r>
              <a:rPr lang="en-US"/>
              <a:t>(1), 10.</a:t>
            </a:r>
            <a:r>
              <a:rPr lang="en-US">
                <a:hlinkClick r:id="rId2"/>
              </a:rPr>
              <a:t> </a:t>
            </a:r>
            <a:r>
              <a:rPr lang="en-US" u="sng">
                <a:hlinkClick r:id="rId2"/>
              </a:rPr>
              <a:t>https://doi.org/10.1186/s41239-024-00444-7</a:t>
            </a:r>
            <a:endParaRPr lang="en-US">
              <a:effectLst/>
            </a:endParaRPr>
          </a:p>
          <a:p>
            <a:r>
              <a:rPr lang="en-US"/>
              <a:t>Chen, H., Van Reyk, D., &amp; Oliver, B. G. (2025). The use of AI large language models by university students for assignment preparation. </a:t>
            </a:r>
            <a:r>
              <a:rPr lang="en-US" i="1"/>
              <a:t>Advances in Physiology Education</a:t>
            </a:r>
            <a:r>
              <a:rPr lang="en-US"/>
              <a:t>, </a:t>
            </a:r>
            <a:r>
              <a:rPr lang="en-US" i="1"/>
              <a:t>49</a:t>
            </a:r>
            <a:r>
              <a:rPr lang="en-US"/>
              <a:t>(2), 517–525.</a:t>
            </a:r>
            <a:r>
              <a:rPr lang="en-US">
                <a:hlinkClick r:id="rId3"/>
              </a:rPr>
              <a:t> </a:t>
            </a:r>
            <a:r>
              <a:rPr lang="en-US" u="sng">
                <a:hlinkClick r:id="rId3"/>
              </a:rPr>
              <a:t>https://doi.org/10.1152/advan.00181.2024</a:t>
            </a:r>
            <a:endParaRPr lang="en-US">
              <a:effectLst/>
            </a:endParaRPr>
          </a:p>
          <a:p>
            <a:r>
              <a:rPr lang="en-US"/>
              <a:t>Donnell, F. O., Porter, M., &amp; Fitzgerald, S. (n.d.). The Role of Artificial Intelligence in Higher Education: Higher Education Students use of AI in Academic Assignments. </a:t>
            </a:r>
            <a:r>
              <a:rPr lang="en-US" i="1"/>
              <a:t>Irish Journal of Technology Enhanced Learning</a:t>
            </a:r>
            <a:r>
              <a:rPr lang="en-US"/>
              <a:t>.</a:t>
            </a:r>
            <a:endParaRPr lang="en-US">
              <a:effectLst/>
            </a:endParaRPr>
          </a:p>
          <a:p>
            <a:r>
              <a:rPr lang="en-US"/>
              <a:t>Duong, T.-N.-A., &amp; Chen, H.-L. (2025). An AI Chatbot for EFL Writing: Students’ Usage Tendencies, Writing Performance, and Perceptions. </a:t>
            </a:r>
            <a:r>
              <a:rPr lang="en-US" i="1"/>
              <a:t>Journal of Educational Computing Research</a:t>
            </a:r>
            <a:r>
              <a:rPr lang="en-US"/>
              <a:t>, </a:t>
            </a:r>
            <a:r>
              <a:rPr lang="en-US" i="1"/>
              <a:t>63</a:t>
            </a:r>
            <a:r>
              <a:rPr lang="en-US"/>
              <a:t>(2), 406–430.</a:t>
            </a:r>
            <a:r>
              <a:rPr lang="en-US">
                <a:hlinkClick r:id="rId4"/>
              </a:rPr>
              <a:t> </a:t>
            </a:r>
            <a:r>
              <a:rPr lang="en-US" u="sng">
                <a:hlinkClick r:id="rId4"/>
              </a:rPr>
              <a:t>https://doi.org/10.1177/07356331241312363</a:t>
            </a:r>
            <a:endParaRPr lang="en-US">
              <a:effectLst/>
            </a:endParaRPr>
          </a:p>
          <a:p>
            <a:r>
              <a:rPr lang="en-US"/>
              <a:t>Zeki, A. M., Tarshany, Y., Wasiq, S., Al-Taei, M. H. A., &amp; Alhazmi, A. K. (2025). Exploring University Students’ Utilization of AI Tools in Academic Assignments: Benefits, Challenges, and Ethical Considerations. </a:t>
            </a:r>
            <a:r>
              <a:rPr lang="en-US" i="1"/>
              <a:t>2025 International Conference for Artificial Intelligence, Applications, Innovation and Ethics (AI2E)</a:t>
            </a:r>
            <a:r>
              <a:rPr lang="en-US"/>
              <a:t>, 1–6.</a:t>
            </a:r>
            <a:r>
              <a:rPr lang="en-US">
                <a:hlinkClick r:id="rId5"/>
              </a:rPr>
              <a:t> </a:t>
            </a:r>
            <a:r>
              <a:rPr lang="en-US" u="sng">
                <a:hlinkClick r:id="rId5"/>
              </a:rPr>
              <a:t>https://doi.org/10.1109/AI2E64943.2025.10983650</a:t>
            </a:r>
            <a:endParaRPr lang="en-US">
              <a:effectLst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9042CDD-8104-6E28-F874-26C28B92B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2387600"/>
          </a:xfrm>
        </p:spPr>
        <p:txBody>
          <a:bodyPr anchor="ctr">
            <a:noAutofit/>
          </a:bodyPr>
          <a:lstStyle/>
          <a:p>
            <a:r>
              <a:rPr lang="en-US" sz="4800">
                <a:solidFill>
                  <a:srgbClr val="647FBC"/>
                </a:solidFill>
              </a:rPr>
              <a:t>References</a:t>
            </a:r>
            <a:endParaRPr lang="en-TR" sz="4800" b="1">
              <a:solidFill>
                <a:srgbClr val="647FB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630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593</Words>
  <Application>Microsoft Macintosh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FLE311 – Research Project Presentation</vt:lpstr>
      <vt:lpstr>Aim of our project</vt:lpstr>
      <vt:lpstr>Background research</vt:lpstr>
      <vt:lpstr>Research Questions</vt:lpstr>
      <vt:lpstr>What intimidates us?</vt:lpstr>
      <vt:lpstr>Thanks for listening!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Efe Top</dc:creator>
  <cp:lastModifiedBy>Efe Top</cp:lastModifiedBy>
  <cp:revision>15</cp:revision>
  <dcterms:created xsi:type="dcterms:W3CDTF">2025-10-16T12:47:34Z</dcterms:created>
  <dcterms:modified xsi:type="dcterms:W3CDTF">2025-11-05T19:18:20Z</dcterms:modified>
</cp:coreProperties>
</file>